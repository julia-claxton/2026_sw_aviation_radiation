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0"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09B70E-DF43-41ED-B84F-F02796021C76}" v="2849" dt="2023-10-25T20:52:33.94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4.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ant Berland" userId="S::grbe8029@colorado.edu::b2a944cd-2dbd-4786-9b43-908a49ced87b" providerId="AD" clId="Web-{AF09B70E-DF43-41ED-B84F-F02796021C76}"/>
    <pc:docChg chg="addSld delSld modSld">
      <pc:chgData name="Grant Berland" userId="S::grbe8029@colorado.edu::b2a944cd-2dbd-4786-9b43-908a49ced87b" providerId="AD" clId="Web-{AF09B70E-DF43-41ED-B84F-F02796021C76}" dt="2023-10-25T20:52:33.942" v="1816" actId="20577"/>
      <pc:docMkLst>
        <pc:docMk/>
      </pc:docMkLst>
      <pc:sldChg chg="del">
        <pc:chgData name="Grant Berland" userId="S::grbe8029@colorado.edu::b2a944cd-2dbd-4786-9b43-908a49ced87b" providerId="AD" clId="Web-{AF09B70E-DF43-41ED-B84F-F02796021C76}" dt="2023-10-25T19:55:24.480" v="1"/>
        <pc:sldMkLst>
          <pc:docMk/>
          <pc:sldMk cId="109857222" sldId="256"/>
        </pc:sldMkLst>
      </pc:sldChg>
      <pc:sldChg chg="modSp new">
        <pc:chgData name="Grant Berland" userId="S::grbe8029@colorado.edu::b2a944cd-2dbd-4786-9b43-908a49ced87b" providerId="AD" clId="Web-{AF09B70E-DF43-41ED-B84F-F02796021C76}" dt="2023-10-25T20:16:19.356" v="956" actId="20577"/>
        <pc:sldMkLst>
          <pc:docMk/>
          <pc:sldMk cId="268924234" sldId="257"/>
        </pc:sldMkLst>
        <pc:spChg chg="mod">
          <ac:chgData name="Grant Berland" userId="S::grbe8029@colorado.edu::b2a944cd-2dbd-4786-9b43-908a49ced87b" providerId="AD" clId="Web-{AF09B70E-DF43-41ED-B84F-F02796021C76}" dt="2023-10-25T19:55:45.028" v="31" actId="20577"/>
          <ac:spMkLst>
            <pc:docMk/>
            <pc:sldMk cId="268924234" sldId="257"/>
            <ac:spMk id="2" creationId="{DA776A6E-0F8F-AC42-A3F2-3E223BD2E58D}"/>
          </ac:spMkLst>
        </pc:spChg>
        <pc:spChg chg="mod">
          <ac:chgData name="Grant Berland" userId="S::grbe8029@colorado.edu::b2a944cd-2dbd-4786-9b43-908a49ced87b" providerId="AD" clId="Web-{AF09B70E-DF43-41ED-B84F-F02796021C76}" dt="2023-10-25T20:16:19.356" v="956" actId="20577"/>
          <ac:spMkLst>
            <pc:docMk/>
            <pc:sldMk cId="268924234" sldId="257"/>
            <ac:spMk id="3" creationId="{2BC3B649-1B10-3838-C92D-BCFC195BCD21}"/>
          </ac:spMkLst>
        </pc:spChg>
      </pc:sldChg>
      <pc:sldChg chg="addSp delSp modSp new">
        <pc:chgData name="Grant Berland" userId="S::grbe8029@colorado.edu::b2a944cd-2dbd-4786-9b43-908a49ced87b" providerId="AD" clId="Web-{AF09B70E-DF43-41ED-B84F-F02796021C76}" dt="2023-10-25T20:16:37.747" v="958" actId="20577"/>
        <pc:sldMkLst>
          <pc:docMk/>
          <pc:sldMk cId="3836546051" sldId="258"/>
        </pc:sldMkLst>
        <pc:spChg chg="mod">
          <ac:chgData name="Grant Berland" userId="S::grbe8029@colorado.edu::b2a944cd-2dbd-4786-9b43-908a49ced87b" providerId="AD" clId="Web-{AF09B70E-DF43-41ED-B84F-F02796021C76}" dt="2023-10-25T20:08:49.876" v="545" actId="20577"/>
          <ac:spMkLst>
            <pc:docMk/>
            <pc:sldMk cId="3836546051" sldId="258"/>
            <ac:spMk id="2" creationId="{EF44DE69-0A93-323C-A5B6-D7D91E0963C4}"/>
          </ac:spMkLst>
        </pc:spChg>
        <pc:spChg chg="del">
          <ac:chgData name="Grant Berland" userId="S::grbe8029@colorado.edu::b2a944cd-2dbd-4786-9b43-908a49ced87b" providerId="AD" clId="Web-{AF09B70E-DF43-41ED-B84F-F02796021C76}" dt="2023-10-25T19:57:14.624" v="92"/>
          <ac:spMkLst>
            <pc:docMk/>
            <pc:sldMk cId="3836546051" sldId="258"/>
            <ac:spMk id="3" creationId="{D3EE232A-F370-BE80-5D86-F08A6B5FE30B}"/>
          </ac:spMkLst>
        </pc:spChg>
        <pc:spChg chg="add mod">
          <ac:chgData name="Grant Berland" userId="S::grbe8029@colorado.edu::b2a944cd-2dbd-4786-9b43-908a49ced87b" providerId="AD" clId="Web-{AF09B70E-DF43-41ED-B84F-F02796021C76}" dt="2023-10-25T20:16:37.747" v="958" actId="20577"/>
          <ac:spMkLst>
            <pc:docMk/>
            <pc:sldMk cId="3836546051" sldId="258"/>
            <ac:spMk id="6" creationId="{A7222051-4F07-8D10-F1F7-464A5AD7478F}"/>
          </ac:spMkLst>
        </pc:spChg>
        <pc:picChg chg="add mod ord">
          <ac:chgData name="Grant Berland" userId="S::grbe8029@colorado.edu::b2a944cd-2dbd-4786-9b43-908a49ced87b" providerId="AD" clId="Web-{AF09B70E-DF43-41ED-B84F-F02796021C76}" dt="2023-10-25T20:10:13.362" v="638" actId="1076"/>
          <ac:picMkLst>
            <pc:docMk/>
            <pc:sldMk cId="3836546051" sldId="258"/>
            <ac:picMk id="4" creationId="{4240D79C-2CDE-0CB1-CC3C-92994A2CFFBA}"/>
          </ac:picMkLst>
        </pc:picChg>
        <pc:picChg chg="add mod">
          <ac:chgData name="Grant Berland" userId="S::grbe8029@colorado.edu::b2a944cd-2dbd-4786-9b43-908a49ced87b" providerId="AD" clId="Web-{AF09B70E-DF43-41ED-B84F-F02796021C76}" dt="2023-10-25T20:10:21.566" v="641" actId="1076"/>
          <ac:picMkLst>
            <pc:docMk/>
            <pc:sldMk cId="3836546051" sldId="258"/>
            <ac:picMk id="5" creationId="{62B3B51D-00B3-3852-2596-A6D940C9D42C}"/>
          </ac:picMkLst>
        </pc:picChg>
        <pc:picChg chg="add mod">
          <ac:chgData name="Grant Berland" userId="S::grbe8029@colorado.edu::b2a944cd-2dbd-4786-9b43-908a49ced87b" providerId="AD" clId="Web-{AF09B70E-DF43-41ED-B84F-F02796021C76}" dt="2023-10-25T20:10:54.035" v="645" actId="14100"/>
          <ac:picMkLst>
            <pc:docMk/>
            <pc:sldMk cId="3836546051" sldId="258"/>
            <ac:picMk id="7" creationId="{EB39D748-805E-6620-1287-3E86BF79145E}"/>
          </ac:picMkLst>
        </pc:picChg>
      </pc:sldChg>
      <pc:sldChg chg="addSp delSp modSp new">
        <pc:chgData name="Grant Berland" userId="S::grbe8029@colorado.edu::b2a944cd-2dbd-4786-9b43-908a49ced87b" providerId="AD" clId="Web-{AF09B70E-DF43-41ED-B84F-F02796021C76}" dt="2023-10-25T20:38:44.812" v="1643" actId="20577"/>
        <pc:sldMkLst>
          <pc:docMk/>
          <pc:sldMk cId="690314390" sldId="259"/>
        </pc:sldMkLst>
        <pc:spChg chg="mod">
          <ac:chgData name="Grant Berland" userId="S::grbe8029@colorado.edu::b2a944cd-2dbd-4786-9b43-908a49ced87b" providerId="AD" clId="Web-{AF09B70E-DF43-41ED-B84F-F02796021C76}" dt="2023-10-25T20:08:38.704" v="540" actId="1076"/>
          <ac:spMkLst>
            <pc:docMk/>
            <pc:sldMk cId="690314390" sldId="259"/>
            <ac:spMk id="2" creationId="{5492875B-4133-59AF-0F21-4989A28DA86A}"/>
          </ac:spMkLst>
        </pc:spChg>
        <pc:spChg chg="del">
          <ac:chgData name="Grant Berland" userId="S::grbe8029@colorado.edu::b2a944cd-2dbd-4786-9b43-908a49ced87b" providerId="AD" clId="Web-{AF09B70E-DF43-41ED-B84F-F02796021C76}" dt="2023-10-25T19:58:49.876" v="100"/>
          <ac:spMkLst>
            <pc:docMk/>
            <pc:sldMk cId="690314390" sldId="259"/>
            <ac:spMk id="3" creationId="{54F7FEB1-365B-CEB4-BA72-8C9BD8D41507}"/>
          </ac:spMkLst>
        </pc:spChg>
        <pc:spChg chg="add mod">
          <ac:chgData name="Grant Berland" userId="S::grbe8029@colorado.edu::b2a944cd-2dbd-4786-9b43-908a49ced87b" providerId="AD" clId="Web-{AF09B70E-DF43-41ED-B84F-F02796021C76}" dt="2023-10-25T20:38:44.812" v="1643" actId="20577"/>
          <ac:spMkLst>
            <pc:docMk/>
            <pc:sldMk cId="690314390" sldId="259"/>
            <ac:spMk id="6" creationId="{2B9ADCB2-786D-30A0-0754-CD7C9708CF5F}"/>
          </ac:spMkLst>
        </pc:spChg>
        <pc:picChg chg="add mod ord">
          <ac:chgData name="Grant Berland" userId="S::grbe8029@colorado.edu::b2a944cd-2dbd-4786-9b43-908a49ced87b" providerId="AD" clId="Web-{AF09B70E-DF43-41ED-B84F-F02796021C76}" dt="2023-10-25T19:58:53.142" v="101" actId="1076"/>
          <ac:picMkLst>
            <pc:docMk/>
            <pc:sldMk cId="690314390" sldId="259"/>
            <ac:picMk id="4" creationId="{AF2F1569-4F14-4DC9-F8CC-A5E14A33DCD9}"/>
          </ac:picMkLst>
        </pc:picChg>
        <pc:picChg chg="add mod">
          <ac:chgData name="Grant Berland" userId="S::grbe8029@colorado.edu::b2a944cd-2dbd-4786-9b43-908a49ced87b" providerId="AD" clId="Web-{AF09B70E-DF43-41ED-B84F-F02796021C76}" dt="2023-10-25T20:38:41.249" v="1639" actId="14100"/>
          <ac:picMkLst>
            <pc:docMk/>
            <pc:sldMk cId="690314390" sldId="259"/>
            <ac:picMk id="5" creationId="{77EED870-5C8D-A7B0-12EE-A3DAF312C6A1}"/>
          </ac:picMkLst>
        </pc:picChg>
      </pc:sldChg>
      <pc:sldChg chg="modSp new">
        <pc:chgData name="Grant Berland" userId="S::grbe8029@colorado.edu::b2a944cd-2dbd-4786-9b43-908a49ced87b" providerId="AD" clId="Web-{AF09B70E-DF43-41ED-B84F-F02796021C76}" dt="2023-10-25T20:52:33.942" v="1816" actId="20577"/>
        <pc:sldMkLst>
          <pc:docMk/>
          <pc:sldMk cId="1643056960" sldId="260"/>
        </pc:sldMkLst>
        <pc:spChg chg="mod">
          <ac:chgData name="Grant Berland" userId="S::grbe8029@colorado.edu::b2a944cd-2dbd-4786-9b43-908a49ced87b" providerId="AD" clId="Web-{AF09B70E-DF43-41ED-B84F-F02796021C76}" dt="2023-10-25T20:37:52.717" v="1628" actId="20577"/>
          <ac:spMkLst>
            <pc:docMk/>
            <pc:sldMk cId="1643056960" sldId="260"/>
            <ac:spMk id="2" creationId="{3072C591-62EA-F15F-F93B-B17CC4985DBD}"/>
          </ac:spMkLst>
        </pc:spChg>
        <pc:spChg chg="mod">
          <ac:chgData name="Grant Berland" userId="S::grbe8029@colorado.edu::b2a944cd-2dbd-4786-9b43-908a49ced87b" providerId="AD" clId="Web-{AF09B70E-DF43-41ED-B84F-F02796021C76}" dt="2023-10-25T20:52:33.942" v="1816" actId="20577"/>
          <ac:spMkLst>
            <pc:docMk/>
            <pc:sldMk cId="1643056960" sldId="260"/>
            <ac:spMk id="3" creationId="{6BC20007-5AC9-1386-F39E-9A98164EEFC7}"/>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10/25/2023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10/25/2023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10/25/2023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10/25/2023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10/25/2023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10/25/2023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10/25/2023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10/25/2023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76A6E-0F8F-AC42-A3F2-3E223BD2E58D}"/>
              </a:ext>
            </a:extLst>
          </p:cNvPr>
          <p:cNvSpPr>
            <a:spLocks noGrp="1"/>
          </p:cNvSpPr>
          <p:nvPr>
            <p:ph type="title"/>
          </p:nvPr>
        </p:nvSpPr>
        <p:spPr/>
        <p:txBody>
          <a:bodyPr>
            <a:normAutofit/>
          </a:bodyPr>
          <a:lstStyle/>
          <a:p>
            <a:r>
              <a:rPr lang="en-US" sz="4000" dirty="0">
                <a:cs typeface="Calibri Light"/>
              </a:rPr>
              <a:t>Airline Radiation Dose Rate -- Inversion Problem</a:t>
            </a:r>
          </a:p>
        </p:txBody>
      </p:sp>
      <p:sp>
        <p:nvSpPr>
          <p:cNvPr id="3" name="Content Placeholder 2">
            <a:extLst>
              <a:ext uri="{FF2B5EF4-FFF2-40B4-BE49-F238E27FC236}">
                <a16:creationId xmlns:a16="http://schemas.microsoft.com/office/drawing/2014/main" id="{2BC3B649-1B10-3838-C92D-BCFC195BCD21}"/>
              </a:ext>
            </a:extLst>
          </p:cNvPr>
          <p:cNvSpPr>
            <a:spLocks noGrp="1"/>
          </p:cNvSpPr>
          <p:nvPr>
            <p:ph idx="1"/>
          </p:nvPr>
        </p:nvSpPr>
        <p:spPr/>
        <p:txBody>
          <a:bodyPr vert="horz" lIns="91440" tIns="45720" rIns="91440" bIns="45720" rtlCol="0" anchor="t">
            <a:normAutofit/>
          </a:bodyPr>
          <a:lstStyle/>
          <a:p>
            <a:r>
              <a:rPr lang="en-US" dirty="0">
                <a:cs typeface="Calibri"/>
              </a:rPr>
              <a:t>Inversion question: what precipitating electron spectrum will produce the observed results?</a:t>
            </a:r>
            <a:br>
              <a:rPr lang="en-US" dirty="0">
                <a:cs typeface="Calibri"/>
              </a:rPr>
            </a:br>
            <a:endParaRPr lang="en-US" dirty="0">
              <a:cs typeface="Calibri"/>
            </a:endParaRPr>
          </a:p>
          <a:p>
            <a:r>
              <a:rPr lang="en-US" dirty="0">
                <a:cs typeface="Calibri"/>
              </a:rPr>
              <a:t>Two avenues to evaluate this problem:</a:t>
            </a:r>
          </a:p>
          <a:p>
            <a:pPr lvl="1"/>
            <a:r>
              <a:rPr lang="en-US" dirty="0">
                <a:cs typeface="Calibri"/>
              </a:rPr>
              <a:t>Increase flux</a:t>
            </a:r>
          </a:p>
          <a:p>
            <a:pPr lvl="1"/>
            <a:r>
              <a:rPr lang="en-US" dirty="0">
                <a:cs typeface="Calibri"/>
              </a:rPr>
              <a:t>Increase spectral hardness</a:t>
            </a:r>
          </a:p>
          <a:p>
            <a:endParaRPr lang="en-US" dirty="0">
              <a:cs typeface="Calibri"/>
            </a:endParaRPr>
          </a:p>
        </p:txBody>
      </p:sp>
    </p:spTree>
    <p:extLst>
      <p:ext uri="{BB962C8B-B14F-4D97-AF65-F5344CB8AC3E}">
        <p14:creationId xmlns:p14="http://schemas.microsoft.com/office/powerpoint/2010/main" val="2689242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4DE69-0A93-323C-A5B6-D7D91E0963C4}"/>
              </a:ext>
            </a:extLst>
          </p:cNvPr>
          <p:cNvSpPr>
            <a:spLocks noGrp="1"/>
          </p:cNvSpPr>
          <p:nvPr>
            <p:ph type="title"/>
          </p:nvPr>
        </p:nvSpPr>
        <p:spPr>
          <a:xfrm>
            <a:off x="415887" y="365125"/>
            <a:ext cx="10515600" cy="1325563"/>
          </a:xfrm>
        </p:spPr>
        <p:txBody>
          <a:bodyPr/>
          <a:lstStyle/>
          <a:p>
            <a:r>
              <a:rPr lang="en-US" dirty="0">
                <a:ea typeface="+mj-lt"/>
                <a:cs typeface="+mj-lt"/>
              </a:rPr>
              <a:t>Existing Cases</a:t>
            </a:r>
            <a:endParaRPr lang="en-US" dirty="0"/>
          </a:p>
        </p:txBody>
      </p:sp>
      <p:pic>
        <p:nvPicPr>
          <p:cNvPr id="4" name="Content Placeholder 3" descr="A screenshot of a graph&#10;&#10;Description automatically generated">
            <a:extLst>
              <a:ext uri="{FF2B5EF4-FFF2-40B4-BE49-F238E27FC236}">
                <a16:creationId xmlns:a16="http://schemas.microsoft.com/office/drawing/2014/main" id="{4240D79C-2CDE-0CB1-CC3C-92994A2CFFBA}"/>
              </a:ext>
            </a:extLst>
          </p:cNvPr>
          <p:cNvPicPr>
            <a:picLocks noGrp="1" noChangeAspect="1"/>
          </p:cNvPicPr>
          <p:nvPr>
            <p:ph idx="1"/>
          </p:nvPr>
        </p:nvPicPr>
        <p:blipFill>
          <a:blip r:embed="rId2"/>
          <a:stretch>
            <a:fillRect/>
          </a:stretch>
        </p:blipFill>
        <p:spPr>
          <a:xfrm>
            <a:off x="5527282" y="658"/>
            <a:ext cx="5930226" cy="2262642"/>
          </a:xfrm>
        </p:spPr>
      </p:pic>
      <p:pic>
        <p:nvPicPr>
          <p:cNvPr id="5" name="Picture 4" descr="A screenshot of a graph&#10;&#10;Description automatically generated">
            <a:extLst>
              <a:ext uri="{FF2B5EF4-FFF2-40B4-BE49-F238E27FC236}">
                <a16:creationId xmlns:a16="http://schemas.microsoft.com/office/drawing/2014/main" id="{62B3B51D-00B3-3852-2596-A6D940C9D42C}"/>
              </a:ext>
            </a:extLst>
          </p:cNvPr>
          <p:cNvPicPr>
            <a:picLocks noChangeAspect="1"/>
          </p:cNvPicPr>
          <p:nvPr/>
        </p:nvPicPr>
        <p:blipFill>
          <a:blip r:embed="rId3"/>
          <a:stretch>
            <a:fillRect/>
          </a:stretch>
        </p:blipFill>
        <p:spPr>
          <a:xfrm>
            <a:off x="5528224" y="2201997"/>
            <a:ext cx="5928344" cy="2269597"/>
          </a:xfrm>
          <a:prstGeom prst="rect">
            <a:avLst/>
          </a:prstGeom>
        </p:spPr>
      </p:pic>
      <p:sp>
        <p:nvSpPr>
          <p:cNvPr id="6" name="TextBox 5">
            <a:extLst>
              <a:ext uri="{FF2B5EF4-FFF2-40B4-BE49-F238E27FC236}">
                <a16:creationId xmlns:a16="http://schemas.microsoft.com/office/drawing/2014/main" id="{A7222051-4F07-8D10-F1F7-464A5AD7478F}"/>
              </a:ext>
            </a:extLst>
          </p:cNvPr>
          <p:cNvSpPr txBox="1"/>
          <p:nvPr/>
        </p:nvSpPr>
        <p:spPr>
          <a:xfrm>
            <a:off x="275421" y="1689252"/>
            <a:ext cx="5150384" cy="397031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a:rPr>
              <a:t>I artificially inflated the flux of the &gt; 1 MeV portion of the existing Van Allen Probes electron spectra to achieve a goal dose rate, D</a:t>
            </a:r>
            <a:r>
              <a:rPr lang="en-US" baseline="-25000" dirty="0">
                <a:cs typeface="Calibri"/>
              </a:rPr>
              <a:t>G</a:t>
            </a:r>
            <a:r>
              <a:rPr lang="en-US" dirty="0">
                <a:cs typeface="Calibri"/>
              </a:rPr>
              <a:t> = 10</a:t>
            </a:r>
            <a:r>
              <a:rPr lang="en-US" baseline="30000" dirty="0">
                <a:cs typeface="Calibri"/>
              </a:rPr>
              <a:t>1</a:t>
            </a:r>
            <a:r>
              <a:rPr lang="en-US" dirty="0">
                <a:cs typeface="Calibri"/>
              </a:rPr>
              <a:t> </a:t>
            </a:r>
            <a:r>
              <a:rPr lang="en-US" dirty="0" err="1">
                <a:cs typeface="Calibri"/>
              </a:rPr>
              <a:t>uSv</a:t>
            </a:r>
            <a:r>
              <a:rPr lang="en-US" dirty="0">
                <a:cs typeface="Calibri"/>
              </a:rPr>
              <a:t>/</a:t>
            </a:r>
            <a:r>
              <a:rPr lang="en-US" dirty="0" err="1">
                <a:cs typeface="Calibri"/>
              </a:rPr>
              <a:t>hr</a:t>
            </a:r>
            <a:r>
              <a:rPr lang="en-US" dirty="0">
                <a:cs typeface="Calibri" panose="020F0502020204030204"/>
              </a:rPr>
              <a:t> at 11 km.</a:t>
            </a:r>
          </a:p>
          <a:p>
            <a:endParaRPr lang="en-US" dirty="0">
              <a:cs typeface="Calibri" panose="020F0502020204030204"/>
            </a:endParaRPr>
          </a:p>
          <a:p>
            <a:r>
              <a:rPr lang="en-US" dirty="0">
                <a:cs typeface="Calibri" panose="020F0502020204030204"/>
              </a:rPr>
              <a:t>The results of Cases 7, 8, and 9 are shown to the right, where the orange spectra is linearly shifted upwards in flux to achieve the goal dose rate. The original spectra are shown in green, and the trapped population in blue for reference.</a:t>
            </a:r>
          </a:p>
          <a:p>
            <a:endParaRPr lang="en-US" dirty="0">
              <a:cs typeface="Calibri" panose="020F0502020204030204"/>
            </a:endParaRPr>
          </a:p>
          <a:p>
            <a:r>
              <a:rPr lang="en-US" b="1" dirty="0">
                <a:cs typeface="Calibri" panose="020F0502020204030204"/>
              </a:rPr>
              <a:t>These three cases require their integral flux &gt;1 MeV to be 2 – 8 x 10</a:t>
            </a:r>
            <a:r>
              <a:rPr lang="en-US" b="1" baseline="30000" dirty="0">
                <a:cs typeface="Calibri" panose="020F0502020204030204"/>
              </a:rPr>
              <a:t>7</a:t>
            </a:r>
            <a:r>
              <a:rPr lang="en-US" b="1" dirty="0">
                <a:cs typeface="Calibri" panose="020F0502020204030204"/>
              </a:rPr>
              <a:t> times higher to achieve 10</a:t>
            </a:r>
            <a:r>
              <a:rPr lang="en-US" b="1" baseline="30000" dirty="0">
                <a:cs typeface="Calibri" panose="020F0502020204030204"/>
              </a:rPr>
              <a:t>1</a:t>
            </a:r>
            <a:r>
              <a:rPr lang="en-US" b="1" dirty="0">
                <a:cs typeface="Calibri" panose="020F0502020204030204"/>
              </a:rPr>
              <a:t> </a:t>
            </a:r>
            <a:r>
              <a:rPr lang="en-US" b="1" dirty="0" err="1">
                <a:cs typeface="Calibri" panose="020F0502020204030204"/>
              </a:rPr>
              <a:t>uSv</a:t>
            </a:r>
            <a:r>
              <a:rPr lang="en-US" b="1" dirty="0">
                <a:cs typeface="Calibri" panose="020F0502020204030204"/>
              </a:rPr>
              <a:t>/</a:t>
            </a:r>
            <a:r>
              <a:rPr lang="en-US" b="1" dirty="0" err="1">
                <a:cs typeface="Calibri" panose="020F0502020204030204"/>
              </a:rPr>
              <a:t>hr</a:t>
            </a:r>
            <a:r>
              <a:rPr lang="en-US" b="1" dirty="0">
                <a:cs typeface="Calibri" panose="020F0502020204030204"/>
              </a:rPr>
              <a:t> at 11 km without modifying the spectral distribution.</a:t>
            </a:r>
          </a:p>
        </p:txBody>
      </p:sp>
      <p:pic>
        <p:nvPicPr>
          <p:cNvPr id="7" name="Picture 6" descr="A screenshot of a graph&#10;&#10;Description automatically generated">
            <a:extLst>
              <a:ext uri="{FF2B5EF4-FFF2-40B4-BE49-F238E27FC236}">
                <a16:creationId xmlns:a16="http://schemas.microsoft.com/office/drawing/2014/main" id="{EB39D748-805E-6620-1287-3E86BF79145E}"/>
              </a:ext>
            </a:extLst>
          </p:cNvPr>
          <p:cNvPicPr>
            <a:picLocks noChangeAspect="1"/>
          </p:cNvPicPr>
          <p:nvPr/>
        </p:nvPicPr>
        <p:blipFill>
          <a:blip r:embed="rId4"/>
          <a:stretch>
            <a:fillRect/>
          </a:stretch>
        </p:blipFill>
        <p:spPr>
          <a:xfrm>
            <a:off x="5523123" y="4466349"/>
            <a:ext cx="5937864" cy="2295891"/>
          </a:xfrm>
          <a:prstGeom prst="rect">
            <a:avLst/>
          </a:prstGeom>
        </p:spPr>
      </p:pic>
    </p:spTree>
    <p:extLst>
      <p:ext uri="{BB962C8B-B14F-4D97-AF65-F5344CB8AC3E}">
        <p14:creationId xmlns:p14="http://schemas.microsoft.com/office/powerpoint/2010/main" val="38365460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2C591-62EA-F15F-F93B-B17CC4985DBD}"/>
              </a:ext>
            </a:extLst>
          </p:cNvPr>
          <p:cNvSpPr>
            <a:spLocks noGrp="1"/>
          </p:cNvSpPr>
          <p:nvPr>
            <p:ph type="title"/>
          </p:nvPr>
        </p:nvSpPr>
        <p:spPr/>
        <p:txBody>
          <a:bodyPr/>
          <a:lstStyle/>
          <a:p>
            <a:r>
              <a:rPr lang="en-US" dirty="0">
                <a:cs typeface="Calibri Light"/>
              </a:rPr>
              <a:t>Dose Rate Calculation Inversion</a:t>
            </a:r>
            <a:endParaRPr lang="en-US" dirty="0"/>
          </a:p>
        </p:txBody>
      </p:sp>
      <p:sp>
        <p:nvSpPr>
          <p:cNvPr id="3" name="Content Placeholder 2">
            <a:extLst>
              <a:ext uri="{FF2B5EF4-FFF2-40B4-BE49-F238E27FC236}">
                <a16:creationId xmlns:a16="http://schemas.microsoft.com/office/drawing/2014/main" id="{6BC20007-5AC9-1386-F39E-9A98164EEFC7}"/>
              </a:ext>
            </a:extLst>
          </p:cNvPr>
          <p:cNvSpPr>
            <a:spLocks noGrp="1"/>
          </p:cNvSpPr>
          <p:nvPr>
            <p:ph idx="1"/>
          </p:nvPr>
        </p:nvSpPr>
        <p:spPr>
          <a:xfrm>
            <a:off x="838200" y="1533996"/>
            <a:ext cx="10515600" cy="5122744"/>
          </a:xfrm>
        </p:spPr>
        <p:txBody>
          <a:bodyPr vert="horz" lIns="91440" tIns="45720" rIns="91440" bIns="45720" rtlCol="0" anchor="t">
            <a:normAutofit fontScale="92500" lnSpcReduction="10000"/>
          </a:bodyPr>
          <a:lstStyle/>
          <a:p>
            <a:pPr marL="0" indent="0">
              <a:lnSpc>
                <a:spcPct val="100000"/>
              </a:lnSpc>
              <a:spcBef>
                <a:spcPts val="0"/>
              </a:spcBef>
              <a:buNone/>
            </a:pPr>
            <a:r>
              <a:rPr lang="en-US" sz="1800" dirty="0">
                <a:cs typeface="Calibri"/>
              </a:rPr>
              <a:t>Input electron spectrum </a:t>
            </a:r>
            <a:r>
              <a:rPr lang="en-US" sz="1800" i="1" dirty="0">
                <a:cs typeface="Calibri"/>
              </a:rPr>
              <a:t>f(E)</a:t>
            </a:r>
            <a:r>
              <a:rPr lang="en-US" sz="1800" dirty="0">
                <a:cs typeface="Calibri"/>
              </a:rPr>
              <a:t>:</a:t>
            </a:r>
            <a:endParaRPr lang="en-US"/>
          </a:p>
          <a:p>
            <a:pPr marL="0" indent="0" algn="ctr">
              <a:lnSpc>
                <a:spcPct val="100000"/>
              </a:lnSpc>
              <a:spcBef>
                <a:spcPts val="0"/>
              </a:spcBef>
              <a:buNone/>
            </a:pPr>
            <a:r>
              <a:rPr lang="en-US" sz="1800" dirty="0">
                <a:cs typeface="Calibri"/>
              </a:rPr>
              <a:t>f(E) = f</a:t>
            </a:r>
            <a:r>
              <a:rPr lang="en-US" sz="1800" baseline="-25000" dirty="0">
                <a:cs typeface="Calibri"/>
              </a:rPr>
              <a:t>0</a:t>
            </a:r>
            <a:r>
              <a:rPr lang="en-US" sz="1800" dirty="0">
                <a:cs typeface="Calibri"/>
              </a:rPr>
              <a:t> * w(E</a:t>
            </a:r>
            <a:r>
              <a:rPr lang="en-US" sz="1800" baseline="-25000" dirty="0">
                <a:cs typeface="Calibri"/>
              </a:rPr>
              <a:t>i</a:t>
            </a:r>
            <a:r>
              <a:rPr lang="en-US" sz="1800" dirty="0">
                <a:cs typeface="Calibri"/>
              </a:rPr>
              <a:t>)</a:t>
            </a:r>
            <a:br>
              <a:rPr lang="en-US" sz="1800" dirty="0">
                <a:cs typeface="Calibri"/>
              </a:rPr>
            </a:br>
            <a:endParaRPr lang="en-US" sz="1800" dirty="0">
              <a:cs typeface="Calibri"/>
            </a:endParaRPr>
          </a:p>
          <a:p>
            <a:pPr marL="0" indent="0">
              <a:lnSpc>
                <a:spcPct val="100000"/>
              </a:lnSpc>
              <a:spcBef>
                <a:spcPts val="0"/>
              </a:spcBef>
              <a:buNone/>
            </a:pPr>
            <a:r>
              <a:rPr lang="en-US" sz="1800" dirty="0">
                <a:cs typeface="Calibri"/>
              </a:rPr>
              <a:t>Atmospheric transfer function between altitudes h</a:t>
            </a:r>
            <a:r>
              <a:rPr lang="en-US" sz="1800" baseline="-25000" dirty="0">
                <a:cs typeface="Calibri"/>
              </a:rPr>
              <a:t>1</a:t>
            </a:r>
            <a:r>
              <a:rPr lang="en-US" sz="1800" dirty="0">
                <a:cs typeface="Calibri"/>
              </a:rPr>
              <a:t> and h</a:t>
            </a:r>
            <a:r>
              <a:rPr lang="en-US" sz="1800" baseline="-25000" dirty="0">
                <a:cs typeface="Calibri"/>
              </a:rPr>
              <a:t>2</a:t>
            </a:r>
            <a:r>
              <a:rPr lang="en-US" sz="1800" dirty="0">
                <a:cs typeface="Calibri"/>
              </a:rPr>
              <a:t>, </a:t>
            </a:r>
            <a:r>
              <a:rPr lang="en-US" sz="1800" i="1" dirty="0">
                <a:cs typeface="Calibri"/>
              </a:rPr>
              <a:t>H(h</a:t>
            </a:r>
            <a:r>
              <a:rPr lang="en-US" sz="1800" i="1" baseline="-25000" dirty="0">
                <a:cs typeface="Calibri"/>
              </a:rPr>
              <a:t>1</a:t>
            </a:r>
            <a:r>
              <a:rPr lang="en-US" sz="1800" i="1" dirty="0">
                <a:cs typeface="Calibri"/>
              </a:rPr>
              <a:t>, h</a:t>
            </a:r>
            <a:r>
              <a:rPr lang="en-US" sz="1800" i="1" baseline="-25000">
                <a:cs typeface="Calibri"/>
              </a:rPr>
              <a:t>2</a:t>
            </a:r>
            <a:r>
              <a:rPr lang="en-US" sz="1800" i="1">
                <a:cs typeface="Calibri"/>
              </a:rPr>
              <a:t>, E, E'</a:t>
            </a:r>
            <a:r>
              <a:rPr lang="en-US" sz="1800" i="1" dirty="0">
                <a:cs typeface="Calibri"/>
              </a:rPr>
              <a:t>)</a:t>
            </a:r>
            <a:r>
              <a:rPr lang="en-US" sz="1800" dirty="0">
                <a:cs typeface="Calibri"/>
              </a:rPr>
              <a:t>:</a:t>
            </a:r>
            <a:br>
              <a:rPr lang="en-US" sz="1800" dirty="0">
                <a:cs typeface="Calibri"/>
              </a:rPr>
            </a:br>
            <a:endParaRPr lang="en-US" sz="1800" dirty="0">
              <a:cs typeface="Calibri"/>
            </a:endParaRPr>
          </a:p>
          <a:p>
            <a:pPr marL="0" indent="0" algn="ctr">
              <a:lnSpc>
                <a:spcPct val="100000"/>
              </a:lnSpc>
              <a:spcBef>
                <a:spcPts val="0"/>
              </a:spcBef>
              <a:buNone/>
            </a:pPr>
            <a:r>
              <a:rPr lang="en-US" sz="1800" dirty="0">
                <a:cs typeface="Calibri"/>
              </a:rPr>
              <a:t>f</a:t>
            </a:r>
            <a:r>
              <a:rPr lang="en-US" sz="1800" baseline="-25000" dirty="0">
                <a:cs typeface="Calibri"/>
              </a:rPr>
              <a:t>11km</a:t>
            </a:r>
            <a:r>
              <a:rPr lang="en-US" sz="1800">
                <a:cs typeface="Calibri"/>
              </a:rPr>
              <a:t>(E) = H(11 km, ∞, E, E') * f</a:t>
            </a:r>
            <a:r>
              <a:rPr lang="en-US" sz="1800" baseline="-25000" dirty="0">
                <a:cs typeface="Calibri"/>
              </a:rPr>
              <a:t>∞</a:t>
            </a:r>
            <a:r>
              <a:rPr lang="en-US" sz="1800" dirty="0">
                <a:cs typeface="Calibri"/>
              </a:rPr>
              <a:t>(E)</a:t>
            </a:r>
            <a:br>
              <a:rPr lang="en-US" sz="1800" dirty="0">
                <a:cs typeface="Calibri"/>
              </a:rPr>
            </a:br>
            <a:endParaRPr lang="en-US" sz="1800" dirty="0">
              <a:cs typeface="Calibri"/>
            </a:endParaRPr>
          </a:p>
          <a:p>
            <a:pPr marL="457200" lvl="1" indent="0" algn="ctr">
              <a:lnSpc>
                <a:spcPct val="100000"/>
              </a:lnSpc>
              <a:spcBef>
                <a:spcPts val="0"/>
              </a:spcBef>
              <a:buNone/>
            </a:pPr>
            <a:r>
              <a:rPr lang="en-US" sz="1800" dirty="0">
                <a:cs typeface="Calibri"/>
              </a:rPr>
              <a:t>D</a:t>
            </a:r>
            <a:r>
              <a:rPr lang="en-US" sz="1800" baseline="-25000" dirty="0">
                <a:cs typeface="Calibri"/>
              </a:rPr>
              <a:t>11km</a:t>
            </a:r>
            <a:r>
              <a:rPr lang="en-US" sz="1800" dirty="0">
                <a:cs typeface="Calibri"/>
              </a:rPr>
              <a:t> = ∫ f</a:t>
            </a:r>
            <a:r>
              <a:rPr lang="en-US" sz="1800" baseline="-25000" dirty="0">
                <a:cs typeface="Calibri"/>
              </a:rPr>
              <a:t>11km</a:t>
            </a:r>
            <a:r>
              <a:rPr lang="en-US" sz="1800" dirty="0">
                <a:cs typeface="Calibri"/>
              </a:rPr>
              <a:t>(E') C(E') </a:t>
            </a:r>
            <a:r>
              <a:rPr lang="en-US" sz="1800" err="1">
                <a:cs typeface="Calibri"/>
              </a:rPr>
              <a:t>dE</a:t>
            </a:r>
            <a:r>
              <a:rPr lang="en-US" sz="1800" dirty="0">
                <a:cs typeface="Calibri"/>
              </a:rPr>
              <a:t>' = f</a:t>
            </a:r>
            <a:r>
              <a:rPr lang="en-US" sz="1800" baseline="-25000" dirty="0">
                <a:cs typeface="Calibri"/>
              </a:rPr>
              <a:t>0</a:t>
            </a:r>
            <a:r>
              <a:rPr lang="en-US" sz="1800" dirty="0">
                <a:cs typeface="Calibri"/>
              </a:rPr>
              <a:t> </a:t>
            </a:r>
            <a:r>
              <a:rPr lang="en-US" sz="1800">
                <a:ea typeface="+mn-lt"/>
                <a:cs typeface="+mn-lt"/>
              </a:rPr>
              <a:t>∫ H(11 km, ∞, E, E') w(E) C(E') </a:t>
            </a:r>
            <a:r>
              <a:rPr lang="en-US" sz="1800" err="1">
                <a:ea typeface="+mn-lt"/>
                <a:cs typeface="+mn-lt"/>
              </a:rPr>
              <a:t>dE</a:t>
            </a:r>
            <a:r>
              <a:rPr lang="en-US" sz="1800" dirty="0">
                <a:ea typeface="+mn-lt"/>
                <a:cs typeface="+mn-lt"/>
              </a:rPr>
              <a:t>' </a:t>
            </a:r>
            <a:br>
              <a:rPr lang="en-US" sz="1800" dirty="0">
                <a:ea typeface="+mn-lt"/>
                <a:cs typeface="+mn-lt"/>
              </a:rPr>
            </a:br>
            <a:endParaRPr lang="en-US" sz="1800" dirty="0">
              <a:ea typeface="+mn-lt"/>
              <a:cs typeface="+mn-lt"/>
            </a:endParaRPr>
          </a:p>
          <a:p>
            <a:pPr marL="457200" lvl="1" indent="0" algn="ctr">
              <a:lnSpc>
                <a:spcPct val="100000"/>
              </a:lnSpc>
              <a:spcBef>
                <a:spcPts val="0"/>
              </a:spcBef>
              <a:buNone/>
            </a:pPr>
            <a:r>
              <a:rPr lang="en-US" sz="1800">
                <a:ea typeface="+mn-lt"/>
                <a:cs typeface="+mn-lt"/>
              </a:rPr>
              <a:t>D</a:t>
            </a:r>
            <a:r>
              <a:rPr lang="en-US" sz="1800" baseline="-25000">
                <a:ea typeface="+mn-lt"/>
                <a:cs typeface="+mn-lt"/>
              </a:rPr>
              <a:t>11km</a:t>
            </a:r>
            <a:r>
              <a:rPr lang="en-US" sz="1800">
                <a:ea typeface="+mn-lt"/>
                <a:cs typeface="+mn-lt"/>
              </a:rPr>
              <a:t> = f</a:t>
            </a:r>
            <a:r>
              <a:rPr lang="en-US" sz="1800" baseline="-25000">
                <a:ea typeface="+mn-lt"/>
                <a:cs typeface="+mn-lt"/>
              </a:rPr>
              <a:t>0 </a:t>
            </a:r>
            <a:r>
              <a:rPr lang="en-US" sz="1800">
                <a:ea typeface="+mn-lt"/>
                <a:cs typeface="+mn-lt"/>
              </a:rPr>
              <a:t>w(E</a:t>
            </a:r>
            <a:r>
              <a:rPr lang="en-US" sz="1800" baseline="-25000">
                <a:ea typeface="+mn-lt"/>
                <a:cs typeface="+mn-lt"/>
              </a:rPr>
              <a:t>i</a:t>
            </a:r>
            <a:r>
              <a:rPr lang="en-US" sz="1800">
                <a:ea typeface="+mn-lt"/>
                <a:cs typeface="+mn-lt"/>
              </a:rPr>
              <a:t>) • d(E</a:t>
            </a:r>
            <a:r>
              <a:rPr lang="en-US" sz="1800" baseline="-25000">
                <a:ea typeface="+mn-lt"/>
                <a:cs typeface="+mn-lt"/>
              </a:rPr>
              <a:t>i</a:t>
            </a:r>
            <a:r>
              <a:rPr lang="en-US" sz="1800" dirty="0">
                <a:ea typeface="+mn-lt"/>
                <a:cs typeface="+mn-lt"/>
              </a:rPr>
              <a:t>)</a:t>
            </a:r>
            <a:br>
              <a:rPr lang="en-US" sz="1800" dirty="0">
                <a:ea typeface="+mn-lt"/>
                <a:cs typeface="+mn-lt"/>
              </a:rPr>
            </a:br>
            <a:endParaRPr lang="en-US" sz="1800" dirty="0">
              <a:ea typeface="+mn-lt"/>
              <a:cs typeface="+mn-lt"/>
            </a:endParaRPr>
          </a:p>
          <a:p>
            <a:pPr marL="457200" lvl="1" indent="0">
              <a:lnSpc>
                <a:spcPct val="100000"/>
              </a:lnSpc>
              <a:spcBef>
                <a:spcPts val="0"/>
              </a:spcBef>
              <a:buNone/>
            </a:pPr>
            <a:r>
              <a:rPr lang="en-US" sz="1800">
                <a:ea typeface="+mn-lt"/>
                <a:cs typeface="+mn-lt"/>
              </a:rPr>
              <a:t>Where d(E) are the pre-computed conversion factors per monoenergetic electron with the incorporated </a:t>
            </a:r>
            <a:r>
              <a:rPr lang="en-US" sz="1800" dirty="0">
                <a:ea typeface="+mn-lt"/>
                <a:cs typeface="+mn-lt"/>
              </a:rPr>
              <a:t>atmospheric attenuation effects </a:t>
            </a:r>
            <a:r>
              <a:rPr lang="en-US" sz="1800" i="1" dirty="0">
                <a:ea typeface="+mn-lt"/>
                <a:cs typeface="+mn-lt"/>
              </a:rPr>
              <a:t>H(</a:t>
            </a:r>
            <a:r>
              <a:rPr lang="en-US" sz="1800" dirty="0">
                <a:ea typeface="+mn-lt"/>
                <a:cs typeface="+mn-lt"/>
              </a:rPr>
              <a:t>11 km, ∞, E, E'</a:t>
            </a:r>
            <a:r>
              <a:rPr lang="en-US" sz="1800" i="1" dirty="0">
                <a:ea typeface="+mn-lt"/>
                <a:cs typeface="+mn-lt"/>
              </a:rPr>
              <a:t>)</a:t>
            </a:r>
            <a:r>
              <a:rPr lang="en-US" sz="1800">
                <a:ea typeface="+mn-lt"/>
                <a:cs typeface="+mn-lt"/>
              </a:rPr>
              <a:t>. In the above integral, E' is the electron energy after being operated on by </a:t>
            </a:r>
            <a:r>
              <a:rPr lang="en-US" sz="1800" i="1">
                <a:ea typeface="+mn-lt"/>
                <a:cs typeface="+mn-lt"/>
              </a:rPr>
              <a:t>H</a:t>
            </a:r>
            <a:r>
              <a:rPr lang="en-US" sz="1800">
                <a:ea typeface="+mn-lt"/>
                <a:cs typeface="+mn-lt"/>
              </a:rPr>
              <a:t>, which is separate from the input distribution electron energy </a:t>
            </a:r>
            <a:r>
              <a:rPr lang="en-US" sz="1800" i="1">
                <a:ea typeface="+mn-lt"/>
                <a:cs typeface="+mn-lt"/>
              </a:rPr>
              <a:t>E</a:t>
            </a:r>
            <a:r>
              <a:rPr lang="en-US" sz="1800">
                <a:ea typeface="+mn-lt"/>
                <a:cs typeface="+mn-lt"/>
              </a:rPr>
              <a:t>, which is why the weights are </a:t>
            </a:r>
            <a:r>
              <a:rPr lang="en-US" sz="1800" dirty="0">
                <a:ea typeface="+mn-lt"/>
                <a:cs typeface="+mn-lt"/>
              </a:rPr>
              <a:t>separable out of the integral.</a:t>
            </a:r>
            <a:br>
              <a:rPr lang="en-US" sz="1800" dirty="0">
                <a:ea typeface="+mn-lt"/>
                <a:cs typeface="+mn-lt"/>
              </a:rPr>
            </a:br>
            <a:endParaRPr lang="en-US" sz="1800">
              <a:cs typeface="Calibri"/>
            </a:endParaRPr>
          </a:p>
          <a:p>
            <a:pPr marL="285750" indent="-285750">
              <a:lnSpc>
                <a:spcPct val="100000"/>
              </a:lnSpc>
              <a:spcBef>
                <a:spcPts val="0"/>
              </a:spcBef>
              <a:buFont typeface="Arial,Sans-Serif" panose="020B0604020202020204" pitchFamily="34" charset="0"/>
            </a:pPr>
            <a:r>
              <a:rPr lang="en-US" sz="1800" dirty="0">
                <a:cs typeface="Calibri"/>
              </a:rPr>
              <a:t>General problem: find the weight coefficient matrix that produces the desired result</a:t>
            </a:r>
          </a:p>
          <a:p>
            <a:pPr marL="0" indent="0" algn="ctr">
              <a:lnSpc>
                <a:spcPct val="100000"/>
              </a:lnSpc>
              <a:spcBef>
                <a:spcPts val="0"/>
              </a:spcBef>
              <a:buNone/>
            </a:pPr>
            <a:r>
              <a:rPr lang="en-US" sz="1800" dirty="0">
                <a:cs typeface="Calibri"/>
              </a:rPr>
              <a:t>f</a:t>
            </a:r>
            <a:r>
              <a:rPr lang="en-US" sz="1800" baseline="-25000" dirty="0">
                <a:cs typeface="Calibri"/>
              </a:rPr>
              <a:t>0</a:t>
            </a:r>
            <a:r>
              <a:rPr lang="en-US" sz="1800" dirty="0">
                <a:cs typeface="Calibri"/>
              </a:rPr>
              <a:t> ( </a:t>
            </a:r>
            <a:r>
              <a:rPr lang="en-US" sz="1800" dirty="0" err="1">
                <a:cs typeface="Calibri"/>
              </a:rPr>
              <a:t>w</a:t>
            </a:r>
            <a:r>
              <a:rPr lang="en-US" sz="1800" baseline="-25000" dirty="0" err="1">
                <a:cs typeface="Calibri"/>
              </a:rPr>
              <a:t>i</a:t>
            </a:r>
            <a:r>
              <a:rPr lang="en-US" sz="1800" dirty="0">
                <a:cs typeface="Calibri"/>
              </a:rPr>
              <a:t> • d(E</a:t>
            </a:r>
            <a:r>
              <a:rPr lang="en-US" sz="1800" baseline="-25000" dirty="0">
                <a:cs typeface="Calibri"/>
              </a:rPr>
              <a:t>i</a:t>
            </a:r>
            <a:r>
              <a:rPr lang="en-US" sz="1800" dirty="0">
                <a:cs typeface="Calibri"/>
              </a:rPr>
              <a:t>) ) = D</a:t>
            </a:r>
            <a:r>
              <a:rPr lang="en-US" sz="1800" baseline="-25000" dirty="0">
                <a:cs typeface="Calibri"/>
              </a:rPr>
              <a:t>G</a:t>
            </a:r>
            <a:endParaRPr lang="en-US" sz="1800" dirty="0">
              <a:cs typeface="Calibri"/>
            </a:endParaRPr>
          </a:p>
          <a:p>
            <a:pPr marL="0" indent="0">
              <a:lnSpc>
                <a:spcPct val="100000"/>
              </a:lnSpc>
              <a:spcBef>
                <a:spcPts val="0"/>
              </a:spcBef>
              <a:buNone/>
            </a:pPr>
            <a:r>
              <a:rPr lang="en-US" sz="1800" dirty="0">
                <a:cs typeface="Calibri"/>
              </a:rPr>
              <a:t>Where • is the dot product operation, D</a:t>
            </a:r>
            <a:r>
              <a:rPr lang="en-US" sz="1800" baseline="-25000" dirty="0">
                <a:cs typeface="Calibri"/>
              </a:rPr>
              <a:t>G</a:t>
            </a:r>
            <a:r>
              <a:rPr lang="en-US" sz="1800" dirty="0">
                <a:cs typeface="Calibri"/>
              </a:rPr>
              <a:t> is the goal dose rate (in this case 10</a:t>
            </a:r>
            <a:r>
              <a:rPr lang="en-US" sz="1800" baseline="30000" dirty="0">
                <a:cs typeface="Calibri"/>
              </a:rPr>
              <a:t>1</a:t>
            </a:r>
            <a:r>
              <a:rPr lang="en-US" sz="1800" dirty="0">
                <a:cs typeface="Calibri"/>
              </a:rPr>
              <a:t> </a:t>
            </a:r>
            <a:r>
              <a:rPr lang="en-US" sz="1800" err="1">
                <a:cs typeface="Calibri"/>
              </a:rPr>
              <a:t>uSv</a:t>
            </a:r>
            <a:r>
              <a:rPr lang="en-US" sz="1800" dirty="0">
                <a:cs typeface="Calibri"/>
              </a:rPr>
              <a:t>/</a:t>
            </a:r>
            <a:r>
              <a:rPr lang="en-US" sz="1800" err="1">
                <a:cs typeface="Calibri"/>
              </a:rPr>
              <a:t>hr</a:t>
            </a:r>
            <a:r>
              <a:rPr lang="en-US" sz="1800" dirty="0">
                <a:cs typeface="Calibri"/>
              </a:rPr>
              <a:t>), </a:t>
            </a:r>
            <a:r>
              <a:rPr lang="en-US" sz="1800" err="1">
                <a:cs typeface="Calibri"/>
              </a:rPr>
              <a:t>w</a:t>
            </a:r>
            <a:r>
              <a:rPr lang="en-US" sz="1800" baseline="-25000" err="1">
                <a:cs typeface="Calibri"/>
              </a:rPr>
              <a:t>i</a:t>
            </a:r>
            <a:r>
              <a:rPr lang="en-US" sz="1800" dirty="0">
                <a:cs typeface="Calibri"/>
              </a:rPr>
              <a:t> is the vector of normalized weights applied to the differential dose rate from </a:t>
            </a:r>
            <a:r>
              <a:rPr lang="en-US" sz="1800" err="1">
                <a:cs typeface="Calibri"/>
              </a:rPr>
              <a:t>monoenergy</a:t>
            </a:r>
            <a:r>
              <a:rPr lang="en-US" sz="1800" dirty="0">
                <a:cs typeface="Calibri"/>
              </a:rPr>
              <a:t> beam d(E</a:t>
            </a:r>
            <a:r>
              <a:rPr lang="en-US" sz="1800" baseline="-25000" dirty="0">
                <a:cs typeface="Calibri"/>
              </a:rPr>
              <a:t>i</a:t>
            </a:r>
            <a:r>
              <a:rPr lang="en-US" sz="1800" dirty="0">
                <a:cs typeface="Calibri"/>
              </a:rPr>
              <a:t>), and f</a:t>
            </a:r>
            <a:r>
              <a:rPr lang="en-US" sz="1800" baseline="-25000" dirty="0">
                <a:cs typeface="Calibri"/>
              </a:rPr>
              <a:t>0</a:t>
            </a:r>
            <a:r>
              <a:rPr lang="en-US" sz="1800" dirty="0">
                <a:cs typeface="Calibri"/>
              </a:rPr>
              <a:t> is the total integrated flux. The vector </a:t>
            </a:r>
            <a:r>
              <a:rPr lang="en-US" sz="1800" err="1">
                <a:cs typeface="Calibri"/>
              </a:rPr>
              <a:t>w</a:t>
            </a:r>
            <a:r>
              <a:rPr lang="en-US" sz="1800" baseline="-25000" err="1">
                <a:cs typeface="Calibri"/>
              </a:rPr>
              <a:t>i</a:t>
            </a:r>
            <a:r>
              <a:rPr lang="en-US" sz="1800" dirty="0">
                <a:cs typeface="Calibri"/>
              </a:rPr>
              <a:t> controls the spectral distribution.</a:t>
            </a:r>
            <a:endParaRPr lang="en-US" dirty="0">
              <a:cs typeface="Calibri" panose="020F0502020204030204"/>
            </a:endParaRPr>
          </a:p>
        </p:txBody>
      </p:sp>
    </p:spTree>
    <p:extLst>
      <p:ext uri="{BB962C8B-B14F-4D97-AF65-F5344CB8AC3E}">
        <p14:creationId xmlns:p14="http://schemas.microsoft.com/office/powerpoint/2010/main" val="16430569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2875B-4133-59AF-0F21-4989A28DA86A}"/>
              </a:ext>
            </a:extLst>
          </p:cNvPr>
          <p:cNvSpPr>
            <a:spLocks noGrp="1"/>
          </p:cNvSpPr>
          <p:nvPr>
            <p:ph type="title"/>
          </p:nvPr>
        </p:nvSpPr>
        <p:spPr>
          <a:xfrm>
            <a:off x="480152" y="365125"/>
            <a:ext cx="10515600" cy="1325563"/>
          </a:xfrm>
        </p:spPr>
        <p:txBody>
          <a:bodyPr/>
          <a:lstStyle/>
          <a:p>
            <a:r>
              <a:rPr lang="en-US" dirty="0">
                <a:cs typeface="Calibri Light"/>
              </a:rPr>
              <a:t>Other Energy Distributions</a:t>
            </a:r>
            <a:endParaRPr lang="en-US" dirty="0"/>
          </a:p>
        </p:txBody>
      </p:sp>
      <p:pic>
        <p:nvPicPr>
          <p:cNvPr id="4" name="Content Placeholder 3" descr="A graph with lines and dots&#10;&#10;Description automatically generated">
            <a:extLst>
              <a:ext uri="{FF2B5EF4-FFF2-40B4-BE49-F238E27FC236}">
                <a16:creationId xmlns:a16="http://schemas.microsoft.com/office/drawing/2014/main" id="{AF2F1569-4F14-4DC9-F8CC-A5E14A33DCD9}"/>
              </a:ext>
            </a:extLst>
          </p:cNvPr>
          <p:cNvPicPr>
            <a:picLocks noGrp="1" noChangeAspect="1"/>
          </p:cNvPicPr>
          <p:nvPr>
            <p:ph idx="1"/>
          </p:nvPr>
        </p:nvPicPr>
        <p:blipFill>
          <a:blip r:embed="rId2"/>
          <a:stretch>
            <a:fillRect/>
          </a:stretch>
        </p:blipFill>
        <p:spPr>
          <a:xfrm>
            <a:off x="6914620" y="59531"/>
            <a:ext cx="5305425" cy="3819525"/>
          </a:xfrm>
        </p:spPr>
      </p:pic>
      <p:pic>
        <p:nvPicPr>
          <p:cNvPr id="5" name="Picture 4">
            <a:extLst>
              <a:ext uri="{FF2B5EF4-FFF2-40B4-BE49-F238E27FC236}">
                <a16:creationId xmlns:a16="http://schemas.microsoft.com/office/drawing/2014/main" id="{77EED870-5C8D-A7B0-12EE-A3DAF312C6A1}"/>
              </a:ext>
            </a:extLst>
          </p:cNvPr>
          <p:cNvPicPr>
            <a:picLocks noChangeAspect="1"/>
          </p:cNvPicPr>
          <p:nvPr/>
        </p:nvPicPr>
        <p:blipFill>
          <a:blip r:embed="rId3"/>
          <a:stretch>
            <a:fillRect/>
          </a:stretch>
        </p:blipFill>
        <p:spPr>
          <a:xfrm>
            <a:off x="4649143" y="3880201"/>
            <a:ext cx="7503346" cy="2813524"/>
          </a:xfrm>
          <a:prstGeom prst="rect">
            <a:avLst/>
          </a:prstGeom>
        </p:spPr>
      </p:pic>
      <p:sp>
        <p:nvSpPr>
          <p:cNvPr id="6" name="TextBox 5">
            <a:extLst>
              <a:ext uri="{FF2B5EF4-FFF2-40B4-BE49-F238E27FC236}">
                <a16:creationId xmlns:a16="http://schemas.microsoft.com/office/drawing/2014/main" id="{2B9ADCB2-786D-30A0-0754-CD7C9708CF5F}"/>
              </a:ext>
            </a:extLst>
          </p:cNvPr>
          <p:cNvSpPr txBox="1"/>
          <p:nvPr/>
        </p:nvSpPr>
        <p:spPr>
          <a:xfrm>
            <a:off x="268961" y="1357726"/>
            <a:ext cx="5006553" cy="44319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cs typeface="Calibri" panose="020F0502020204030204"/>
              </a:rPr>
              <a:t>This is an </a:t>
            </a:r>
            <a:r>
              <a:rPr lang="en-US" dirty="0" err="1">
                <a:cs typeface="Calibri" panose="020F0502020204030204"/>
              </a:rPr>
              <a:t>underconstrained</a:t>
            </a:r>
            <a:r>
              <a:rPr lang="en-US" dirty="0">
                <a:cs typeface="Calibri" panose="020F0502020204030204"/>
              </a:rPr>
              <a:t> problem, i.e. dose rate </a:t>
            </a:r>
            <a:br>
              <a:rPr lang="en-US" dirty="0"/>
            </a:br>
            <a:r>
              <a:rPr lang="en-US" dirty="0">
                <a:cs typeface="Calibri" panose="020F0502020204030204"/>
              </a:rPr>
              <a:t>is not uniquely invertible to precipitating spectrum, </a:t>
            </a:r>
            <a:br>
              <a:rPr lang="en-US" dirty="0"/>
            </a:br>
            <a:r>
              <a:rPr lang="en-US" dirty="0">
                <a:cs typeface="Calibri" panose="020F0502020204030204"/>
              </a:rPr>
              <a:t>so instead let's use some physics constrains to </a:t>
            </a:r>
            <a:br>
              <a:rPr lang="en-US" dirty="0"/>
            </a:br>
            <a:r>
              <a:rPr lang="en-US" dirty="0">
                <a:cs typeface="Calibri" panose="020F0502020204030204"/>
              </a:rPr>
              <a:t>guess at reasonable spectral distributions.</a:t>
            </a:r>
            <a:endParaRPr lang="en-US"/>
          </a:p>
          <a:p>
            <a:endParaRPr lang="en-US" dirty="0">
              <a:cs typeface="Calibri" panose="020F0502020204030204"/>
            </a:endParaRPr>
          </a:p>
          <a:p>
            <a:pPr marL="285750" indent="-285750">
              <a:buFont typeface="Arial" panose="020B0604020202020204" pitchFamily="34" charset="0"/>
              <a:buChar char="•"/>
            </a:pPr>
            <a:r>
              <a:rPr lang="en-US" dirty="0">
                <a:cs typeface="Calibri" panose="020F0502020204030204"/>
              </a:rPr>
              <a:t>Case 1: </a:t>
            </a:r>
            <a:r>
              <a:rPr lang="en-US" dirty="0" err="1">
                <a:cs typeface="Calibri" panose="020F0502020204030204"/>
              </a:rPr>
              <a:t>Monoenergy</a:t>
            </a:r>
            <a:r>
              <a:rPr lang="en-US" dirty="0">
                <a:cs typeface="Calibri" panose="020F0502020204030204"/>
              </a:rPr>
              <a:t> beams f(E) = f</a:t>
            </a:r>
            <a:r>
              <a:rPr lang="en-US" baseline="-25000" dirty="0">
                <a:cs typeface="Calibri" panose="020F0502020204030204"/>
              </a:rPr>
              <a:t>0</a:t>
            </a:r>
            <a:r>
              <a:rPr lang="en-US" dirty="0">
                <a:cs typeface="Calibri" panose="020F0502020204030204"/>
              </a:rPr>
              <a:t> E</a:t>
            </a:r>
            <a:r>
              <a:rPr lang="en-US" baseline="-25000" dirty="0">
                <a:cs typeface="Calibri" panose="020F0502020204030204"/>
              </a:rPr>
              <a:t>0</a:t>
            </a:r>
            <a:endParaRPr lang="en-US"/>
          </a:p>
          <a:p>
            <a:pPr marL="285750" indent="-285750">
              <a:buFont typeface="Arial" panose="020B0604020202020204" pitchFamily="34" charset="0"/>
              <a:buChar char="•"/>
            </a:pPr>
            <a:r>
              <a:rPr lang="en-US" dirty="0">
                <a:cs typeface="Calibri" panose="020F0502020204030204"/>
              </a:rPr>
              <a:t>Case 2: Exponential energy  f(E) ~ f</a:t>
            </a:r>
            <a:r>
              <a:rPr lang="en-US" baseline="-25000" dirty="0">
                <a:cs typeface="Calibri" panose="020F0502020204030204"/>
              </a:rPr>
              <a:t>0 </a:t>
            </a:r>
            <a:r>
              <a:rPr lang="en-US" dirty="0">
                <a:cs typeface="Calibri" panose="020F0502020204030204"/>
              </a:rPr>
              <a:t>e</a:t>
            </a:r>
            <a:r>
              <a:rPr lang="en-US" baseline="30000" dirty="0">
                <a:cs typeface="Calibri" panose="020F0502020204030204"/>
              </a:rPr>
              <a:t>-E/E0</a:t>
            </a:r>
          </a:p>
          <a:p>
            <a:pPr marL="285750" indent="-285750">
              <a:buFont typeface="Arial" panose="020B0604020202020204" pitchFamily="34" charset="0"/>
              <a:buChar char="•"/>
            </a:pPr>
            <a:r>
              <a:rPr lang="en-US" dirty="0">
                <a:cs typeface="Calibri" panose="020F0502020204030204"/>
              </a:rPr>
              <a:t>Case 3: Power law energy     f(E) ~ f</a:t>
            </a:r>
            <a:r>
              <a:rPr lang="en-US" baseline="-25000" dirty="0">
                <a:cs typeface="Calibri" panose="020F0502020204030204"/>
              </a:rPr>
              <a:t>0</a:t>
            </a:r>
            <a:r>
              <a:rPr lang="en-US" dirty="0">
                <a:cs typeface="Calibri" panose="020F0502020204030204"/>
              </a:rPr>
              <a:t> E</a:t>
            </a:r>
            <a:r>
              <a:rPr lang="en-US" baseline="30000" dirty="0">
                <a:cs typeface="Calibri" panose="020F0502020204030204"/>
              </a:rPr>
              <a:t>-α</a:t>
            </a:r>
          </a:p>
          <a:p>
            <a:pPr marL="285750" indent="-285750">
              <a:buFont typeface="Arial" panose="020B0604020202020204" pitchFamily="34" charset="0"/>
              <a:buChar char="•"/>
            </a:pPr>
            <a:endParaRPr lang="en-US" baseline="30000" dirty="0">
              <a:cs typeface="Calibri" panose="020F0502020204030204"/>
            </a:endParaRPr>
          </a:p>
          <a:p>
            <a:r>
              <a:rPr lang="en-US" dirty="0">
                <a:cs typeface="Calibri" panose="020F0502020204030204"/>
              </a:rPr>
              <a:t>NB: In this case f</a:t>
            </a:r>
            <a:r>
              <a:rPr lang="en-US" baseline="-25000" dirty="0">
                <a:cs typeface="Calibri" panose="020F0502020204030204"/>
              </a:rPr>
              <a:t>0</a:t>
            </a:r>
            <a:r>
              <a:rPr lang="en-US" dirty="0">
                <a:cs typeface="Calibri" panose="020F0502020204030204"/>
              </a:rPr>
              <a:t> is integrated over the entire distribution, not the &gt;1 MeV portion.</a:t>
            </a:r>
          </a:p>
          <a:p>
            <a:endParaRPr lang="en-US" dirty="0">
              <a:cs typeface="Calibri" panose="020F0502020204030204"/>
            </a:endParaRPr>
          </a:p>
          <a:p>
            <a:r>
              <a:rPr lang="en-US" b="1" dirty="0">
                <a:cs typeface="Calibri" panose="020F0502020204030204"/>
              </a:rPr>
              <a:t>Conclusion: sufficiently high (&gt;10</a:t>
            </a:r>
            <a:r>
              <a:rPr lang="en-US" b="1" baseline="30000" dirty="0">
                <a:cs typeface="Calibri" panose="020F0502020204030204"/>
              </a:rPr>
              <a:t>10</a:t>
            </a:r>
            <a:r>
              <a:rPr lang="en-US" b="1" dirty="0">
                <a:cs typeface="Calibri" panose="020F0502020204030204"/>
              </a:rPr>
              <a:t> cm</a:t>
            </a:r>
            <a:r>
              <a:rPr lang="en-US" b="1" baseline="30000" dirty="0">
                <a:cs typeface="Calibri" panose="020F0502020204030204"/>
              </a:rPr>
              <a:t>-2</a:t>
            </a:r>
            <a:r>
              <a:rPr lang="en-US" b="1" dirty="0">
                <a:cs typeface="Calibri" panose="020F0502020204030204"/>
              </a:rPr>
              <a:t> s</a:t>
            </a:r>
            <a:r>
              <a:rPr lang="en-US" b="1" baseline="30000" dirty="0">
                <a:cs typeface="Calibri" panose="020F0502020204030204"/>
              </a:rPr>
              <a:t>-1</a:t>
            </a:r>
            <a:r>
              <a:rPr lang="en-US" b="1" dirty="0">
                <a:cs typeface="Calibri" panose="020F0502020204030204"/>
              </a:rPr>
              <a:t>) precipitating electron fluxes over a variety of spectral distributions are needed to </a:t>
            </a:r>
            <a:br>
              <a:rPr lang="en-US" b="1" dirty="0">
                <a:cs typeface="Calibri" panose="020F0502020204030204"/>
              </a:rPr>
            </a:br>
            <a:r>
              <a:rPr lang="en-US" b="1" dirty="0">
                <a:cs typeface="Calibri" panose="020F0502020204030204"/>
              </a:rPr>
              <a:t>achieve 10</a:t>
            </a:r>
            <a:r>
              <a:rPr lang="en-US" b="1" baseline="30000" dirty="0">
                <a:cs typeface="Calibri" panose="020F0502020204030204"/>
              </a:rPr>
              <a:t>1</a:t>
            </a:r>
            <a:r>
              <a:rPr lang="en-US" b="1" dirty="0">
                <a:cs typeface="Calibri" panose="020F0502020204030204"/>
              </a:rPr>
              <a:t> </a:t>
            </a:r>
            <a:r>
              <a:rPr lang="en-US" b="1" dirty="0" err="1">
                <a:cs typeface="Calibri" panose="020F0502020204030204"/>
              </a:rPr>
              <a:t>uSv</a:t>
            </a:r>
            <a:r>
              <a:rPr lang="en-US" b="1" dirty="0">
                <a:cs typeface="Calibri" panose="020F0502020204030204"/>
              </a:rPr>
              <a:t>/</a:t>
            </a:r>
            <a:r>
              <a:rPr lang="en-US" b="1" dirty="0" err="1">
                <a:cs typeface="Calibri" panose="020F0502020204030204"/>
              </a:rPr>
              <a:t>hr</a:t>
            </a:r>
            <a:r>
              <a:rPr lang="en-US" b="1" dirty="0">
                <a:cs typeface="Calibri" panose="020F0502020204030204"/>
              </a:rPr>
              <a:t> dose rates at 11 km.</a:t>
            </a:r>
          </a:p>
        </p:txBody>
      </p:sp>
    </p:spTree>
    <p:extLst>
      <p:ext uri="{BB962C8B-B14F-4D97-AF65-F5344CB8AC3E}">
        <p14:creationId xmlns:p14="http://schemas.microsoft.com/office/powerpoint/2010/main" val="69031439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4</Slides>
  <Notes>0</Notes>
  <HiddenSlides>0</HiddenSlides>
  <MMClips>0</MMClips>
  <ScaleCrop>false</ScaleCrop>
  <HeadingPairs>
    <vt:vector size="4" baseType="variant">
      <vt:variant>
        <vt:lpstr>Theme</vt:lpstr>
      </vt:variant>
      <vt:variant>
        <vt:i4>1</vt:i4>
      </vt:variant>
      <vt:variant>
        <vt:lpstr>Slide Titles</vt:lpstr>
      </vt:variant>
      <vt:variant>
        <vt:i4>4</vt:i4>
      </vt:variant>
    </vt:vector>
  </HeadingPairs>
  <TitlesOfParts>
    <vt:vector size="5" baseType="lpstr">
      <vt:lpstr>office theme</vt:lpstr>
      <vt:lpstr>Airline Radiation Dose Rate -- Inversion Problem</vt:lpstr>
      <vt:lpstr>Existing Cases</vt:lpstr>
      <vt:lpstr>Dose Rate Calculation Inversion</vt:lpstr>
      <vt:lpstr>Other Energy Distributions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313</cp:revision>
  <dcterms:created xsi:type="dcterms:W3CDTF">2023-10-25T19:55:04Z</dcterms:created>
  <dcterms:modified xsi:type="dcterms:W3CDTF">2023-10-25T20:52:41Z</dcterms:modified>
</cp:coreProperties>
</file>